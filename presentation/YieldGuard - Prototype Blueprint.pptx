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15602" y="2795587"/>
            <a:ext cx="6360795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b="1" sz="5250" i="0" u="none">
                <a:solidFill>
                  <a:srgbClr val="F5F5F5"/>
                </a:solidFill>
                <a:latin typeface="Urbanist"/>
              </a:rPr>
              <a:t>LogicX - </a:t>
            </a:r>
            <a:r>
              <a:rPr b="1" sz="5250" i="0" u="none">
                <a:solidFill>
                  <a:srgbClr val="DEFF9A"/>
                </a:solidFill>
                <a:latin typeface="Urbanist"/>
              </a:rPr>
              <a:t>YieldGuard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7050" y="3719512"/>
            <a:ext cx="6057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FFFFFF"/>
                </a:solidFill>
                <a:latin typeface="Urbanist Medium"/>
              </a:rPr>
              <a:t>S1 Wafer Yield Root Cause &amp; Defect Pattern Analyser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750" i="0" u="none">
                <a:solidFill>
                  <a:srgbClr val="F5F5F5"/>
                </a:solidFill>
                <a:latin typeface="Urbanist"/>
              </a:rPr>
              <a:t>The </a:t>
            </a:r>
            <a:r>
              <a:rPr b="1" sz="3750" i="0" u="none">
                <a:solidFill>
                  <a:srgbClr val="DEFF9A"/>
                </a:solidFill>
                <a:latin typeface="Urbanist"/>
              </a:rPr>
              <a:t>Problem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33525"/>
            <a:ext cx="52863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DAFFDE"/>
                </a:solidFill>
                <a:latin typeface="Urbanist Medium"/>
              </a:rPr>
              <a:t>Leading-edge fabs repeatedly process lots through hundreds of tightly controlled steps. When yield declines, evidence is distributed across equipment, recipes, and metrology.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26568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DAFFDE"/>
                </a:solidFill>
                <a:latin typeface="Urbanist Medium"/>
              </a:rPr>
              <a:t>Manual analysis is slow and often misses spatial defect signatures and critical parameter interactions that cause significant yield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9350"/>
            <a:ext cx="3429000" cy="2981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419350"/>
            <a:ext cx="3429000" cy="2981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419350"/>
            <a:ext cx="3429000" cy="2981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750" i="0" u="none">
                <a:solidFill>
                  <a:srgbClr val="F5F5F5"/>
                </a:solidFill>
                <a:latin typeface="Urbanist"/>
              </a:rPr>
              <a:t>The </a:t>
            </a:r>
            <a:r>
              <a:rPr b="1" sz="3750" i="0" u="none">
                <a:solidFill>
                  <a:srgbClr val="DEFF9A"/>
                </a:solidFill>
                <a:latin typeface="Urbanist"/>
              </a:rPr>
              <a:t>YieldGuard</a:t>
            </a:r>
            <a:r>
              <a:rPr b="1" sz="3750" i="0" u="none">
                <a:solidFill>
                  <a:srgbClr val="F5F5F5"/>
                </a:solidFill>
                <a:latin typeface="Urbanist"/>
              </a:rPr>
              <a:t> Solution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812" y="2800350"/>
            <a:ext cx="714375" cy="714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30943" y="3752850"/>
            <a:ext cx="910113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250" i="0" u="none">
                <a:solidFill>
                  <a:srgbClr val="DEFF9A"/>
                </a:solidFill>
                <a:latin typeface="Urbanist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248150"/>
            <a:ext cx="28575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FFFFF"/>
                </a:solidFill>
                <a:latin typeface="Urbanist Medium"/>
              </a:rPr>
              <a:t>Monitor yield excursions with robust rolling baselines, tracking active process drifts instantly.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8812" y="2800350"/>
            <a:ext cx="714375" cy="7143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55957" y="3752850"/>
            <a:ext cx="68008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250" i="0" u="none">
                <a:solidFill>
                  <a:srgbClr val="DEFF9A"/>
                </a:solidFill>
                <a:latin typeface="Urbanist"/>
              </a:rPr>
              <a:t>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0" y="4248150"/>
            <a:ext cx="28575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FFFFF"/>
                </a:solidFill>
                <a:latin typeface="Urbanist Medium"/>
              </a:rPr>
              <a:t>Score root causes by temporal alignment, tool concentration, and yield effect size securely.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8812" y="2800350"/>
            <a:ext cx="714375" cy="7143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65945" y="3752850"/>
            <a:ext cx="88011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250" i="0" u="none">
                <a:solidFill>
                  <a:srgbClr val="DEFF9A"/>
                </a:solidFill>
                <a:latin typeface="Urbanist"/>
              </a:rP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0" y="4248150"/>
            <a:ext cx="28575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FFFFF"/>
                </a:solidFill>
                <a:latin typeface="Urbanist Medium"/>
              </a:rPr>
              <a:t>Generate approval-ready corrective action records without unsafe autonomous equipment control.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3125" y="3014662"/>
            <a:ext cx="285750" cy="285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25" y="3014662"/>
            <a:ext cx="285750" cy="2857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6462" y="3014662"/>
            <a:ext cx="219075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95562"/>
            <a:ext cx="5286375" cy="262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595562"/>
            <a:ext cx="5286375" cy="2628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750" i="0" u="none">
                <a:solidFill>
                  <a:srgbClr val="F5F5F5"/>
                </a:solidFill>
                <a:latin typeface="Urbanist"/>
              </a:rPr>
              <a:t>Real-Industry </a:t>
            </a:r>
            <a:r>
              <a:rPr b="1" sz="3750" i="0" u="none">
                <a:solidFill>
                  <a:srgbClr val="DEFF9A"/>
                </a:solidFill>
                <a:latin typeface="Urbanist"/>
              </a:rPr>
              <a:t>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390" y="2976562"/>
            <a:ext cx="4750593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550" i="0" u="none">
                <a:solidFill>
                  <a:srgbClr val="DEFF9A"/>
                </a:solidFill>
                <a:latin typeface="Urbanist"/>
              </a:rPr>
              <a:t>Genealogy &amp; Equipment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557587"/>
            <a:ext cx="45243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DAFFDE"/>
                </a:solidFill>
                <a:latin typeface="Urbanist Medium"/>
              </a:rPr>
              <a:t>Tracks wafer routing contexts, tool states, alarms, and specific process sensor variables (e.g., chamber pressure, RF power, gas flows) across distributed modules.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2015" y="2976562"/>
            <a:ext cx="4750593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550" i="0" u="none">
                <a:solidFill>
                  <a:srgbClr val="DEFF9A"/>
                </a:solidFill>
                <a:latin typeface="Urbanist"/>
              </a:rPr>
              <a:t>Metrology &amp; Defects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3557587"/>
            <a:ext cx="45243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DAFFDE"/>
                </a:solidFill>
                <a:latin typeface="Urbanist Medium"/>
              </a:rPr>
              <a:t>Consolidates measurement proxies, inspection images, target specs, and high-resolution spatial coordinates necessary for downstream yield mapping and pattern extraction.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37" y="2100262"/>
            <a:ext cx="36195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750" i="0" u="none">
                <a:solidFill>
                  <a:srgbClr val="F5F5F5"/>
                </a:solidFill>
                <a:latin typeface="Urbanist"/>
              </a:rPr>
              <a:t>Wafer Pattern </a:t>
            </a:r>
            <a:r>
              <a:rPr b="1" sz="3750" i="0" u="none">
                <a:solidFill>
                  <a:srgbClr val="DEFF9A"/>
                </a:solidFill>
                <a:latin typeface="Urbanist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657475"/>
            <a:ext cx="55506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5F5F5"/>
                </a:solidFill>
                <a:latin typeface="Urbanist"/>
              </a:rPr>
              <a:t>Interactive Spatial Signatures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162300"/>
            <a:ext cx="52863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DAFFDE"/>
                </a:solidFill>
                <a:latin typeface="Urbanist Medium"/>
              </a:rPr>
              <a:t>YieldGuard utilizes an interactive circular map employing x/y defect coordinates. It dynamically identifies prototype spatial signatures—such as center-heavy clusters, edge rings, and localized hotspots.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4448175"/>
            <a:ext cx="52863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DAFFDE"/>
                </a:solidFill>
                <a:latin typeface="Urbanist Medium"/>
              </a:rPr>
              <a:t>Engineers can compare defect densities between good and bad lots visually to trace physical manufacturing anomalies.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037" y="2138362"/>
            <a:ext cx="354330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750" i="0" u="none">
                <a:solidFill>
                  <a:srgbClr val="F5F5F5"/>
                </a:solidFill>
                <a:latin typeface="Urbanist"/>
              </a:rPr>
              <a:t>Root Cause </a:t>
            </a:r>
            <a:r>
              <a:rPr b="1" sz="3750" i="0" u="none">
                <a:solidFill>
                  <a:srgbClr val="DEFF9A"/>
                </a:solidFill>
                <a:latin typeface="Urbanist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38462"/>
            <a:ext cx="528637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b="1" sz="12000" i="0" u="none">
                <a:solidFill>
                  <a:srgbClr val="DEFF9A"/>
                </a:solidFill>
                <a:latin typeface="Urbanist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557712"/>
            <a:ext cx="52863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FFFFF"/>
                </a:solidFill>
                <a:latin typeface="Urbanist"/>
              </a:rPr>
              <a:t>Transparent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871787"/>
            <a:ext cx="55506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5F5F5"/>
                </a:solidFill>
                <a:latin typeface="Urbanist"/>
              </a:rPr>
              <a:t>No Black-Box Probabilities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3376612"/>
            <a:ext cx="5286375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DAFFDE"/>
                </a:solidFill>
                <a:latin typeface="Urbanist Medium"/>
              </a:rPr>
              <a:t>YieldGuard rejects raw LLM guesses. Instead, it relies on transparent, configurable composite scoring. Every AI-derived metric includes underlying evidence counts, data-quality badges, and validation history to ensure complete engineering trust in root-cause candidate selection.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750" i="0" u="none">
                <a:solidFill>
                  <a:srgbClr val="F5F5F5"/>
                </a:solidFill>
                <a:latin typeface="Urbanist"/>
              </a:rPr>
              <a:t>The Investigation </a:t>
            </a:r>
            <a:r>
              <a:rPr b="1" sz="3750" i="0" u="none">
                <a:solidFill>
                  <a:srgbClr val="DEFF9A"/>
                </a:solidFill>
                <a:latin typeface="Urbanist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3125" y="1997868"/>
            <a:ext cx="84772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DEFF9A"/>
                </a:solidFill>
                <a:latin typeface="Urbanist"/>
              </a:rPr>
              <a:t>Quality Gate:</a:t>
            </a:r>
            <a:r>
              <a:rPr b="0" sz="1650" i="0" u="none">
                <a:solidFill>
                  <a:srgbClr val="DAFFDE"/>
                </a:solidFill>
                <a:latin typeface="Urbanist Medium"/>
              </a:rPr>
              <a:t> Schema validation and lineage verification ensures pristine data quality before any statistical analysis begins.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3125" y="2953940"/>
            <a:ext cx="84772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DEFF9A"/>
                </a:solidFill>
                <a:latin typeface="Urbanist"/>
              </a:rPr>
              <a:t>Control Tower:</a:t>
            </a:r>
            <a:r>
              <a:rPr b="0" sz="1650" i="0" u="none">
                <a:solidFill>
                  <a:srgbClr val="DAFFDE"/>
                </a:solidFill>
                <a:latin typeface="Urbanist Medium"/>
              </a:rPr>
              <a:t> Yield excursion alerts trigger on statistical deviations identifying active process drifts across lots.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3125" y="3910012"/>
            <a:ext cx="84772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DEFF9A"/>
                </a:solidFill>
                <a:latin typeface="Urbanist"/>
              </a:rPr>
              <a:t>Parameter Panels:</a:t>
            </a:r>
            <a:r>
              <a:rPr b="0" sz="1650" i="0" u="none">
                <a:solidFill>
                  <a:srgbClr val="DAFFDE"/>
                </a:solidFill>
                <a:latin typeface="Urbanist Medium"/>
              </a:rPr>
              <a:t> Detailed views display out-of-control states, enabling clear before-and-after baseline comparisons.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3125" y="4866084"/>
            <a:ext cx="84772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DEFF9A"/>
                </a:solidFill>
                <a:latin typeface="Urbanist"/>
              </a:rPr>
              <a:t>CAPA Actions:</a:t>
            </a:r>
            <a:r>
              <a:rPr b="0" sz="1650" i="0" u="none">
                <a:solidFill>
                  <a:srgbClr val="DAFFDE"/>
                </a:solidFill>
                <a:latin typeface="Urbanist Medium"/>
              </a:rPr>
              <a:t> Actionable recommendations explicitly state the underlying evidence, required owner, and distinct acceptance criteria.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007393"/>
            <a:ext cx="30480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2963465"/>
            <a:ext cx="26670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3919537"/>
            <a:ext cx="3429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4875609"/>
            <a:ext cx="22860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7325"/>
            <a:ext cx="11049000" cy="4905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95300"/>
            <a:ext cx="1160145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750" i="0" u="none">
                <a:solidFill>
                  <a:srgbClr val="F5F5F5"/>
                </a:solidFill>
                <a:latin typeface="Urbanist"/>
              </a:rPr>
              <a:t>Pre-Run Lot </a:t>
            </a:r>
            <a:r>
              <a:rPr b="1" sz="3750" i="0" u="none">
                <a:solidFill>
                  <a:srgbClr val="DEFF9A"/>
                </a:solidFill>
                <a:latin typeface="Urbanist"/>
              </a:rPr>
              <a:t>Risk Profiling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5648325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DAFFDE"/>
                </a:solidFill>
                <a:latin typeface="Urbanist Medium"/>
              </a:rPr>
              <a:t>The predictive model flags upcoming lots before they incur yield losses, comparing current process states against historical analog lots to assign a comprehensive risk band.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43025"/>
            <a:ext cx="11049000" cy="5133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381000"/>
            <a:ext cx="1160145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750" i="0" u="none">
                <a:solidFill>
                  <a:srgbClr val="F5F5F5"/>
                </a:solidFill>
                <a:latin typeface="Urbanist"/>
              </a:rPr>
              <a:t>Demonstrating </a:t>
            </a:r>
            <a:r>
              <a:rPr b="1" sz="3750" i="0" u="none">
                <a:solidFill>
                  <a:srgbClr val="DEFF9A"/>
                </a:solidFill>
                <a:latin typeface="Urbanist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5762625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DAFFDE"/>
                </a:solidFill>
                <a:latin typeface="Urbanist Medium"/>
              </a:rPr>
              <a:t>Cost-impact panels utilize configurable assumptions (wafers per lot, value per die) to estimate exposure, demonstrating a significant reduction in prevented loss over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519362"/>
            <a:ext cx="11601450" cy="1038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750" i="0" u="none">
                <a:solidFill>
                  <a:srgbClr val="DEFF9A"/>
                </a:solidFill>
                <a:latin typeface="Urbanist"/>
              </a:rPr>
              <a:t>The Decision </a:t>
            </a:r>
            <a:r>
              <a:rPr b="1" sz="6750" i="0" u="none">
                <a:solidFill>
                  <a:srgbClr val="DEFF9A"/>
                </a:solidFill>
                <a:latin typeface="Urbanist"/>
              </a:rPr>
              <a:t>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795712"/>
            <a:ext cx="11049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2100" i="0" u="none">
                <a:solidFill>
                  <a:srgbClr val="FFFFFF"/>
                </a:solidFill>
                <a:latin typeface="Urbanist Medium"/>
              </a:rPr>
              <a:t>Real Fab Data ➔ Trustworthy Evidence ➔ Actionable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750" i="0" u="none">
                <a:solidFill>
                  <a:srgbClr val="F5F5F5"/>
                </a:solidFill>
                <a:latin typeface="Urbanist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771650" y="3143250"/>
            <a:ext cx="86487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1650" y="3905250"/>
            <a:ext cx="8648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71650" y="3905250"/>
            <a:ext cx="8648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3286125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67025" y="3293268"/>
            <a:ext cx="7553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DAFFDE"/>
                </a:solidFill>
                <a:latin typeface="Urbanist Medium"/>
              </a:rPr>
              <a:t>https://www.universitywafer.com/img/semiconductor-cleanroom-wafer-processing.webp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7025" y="3526631"/>
            <a:ext cx="7553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AFFDE"/>
                </a:solidFill>
                <a:latin typeface="Urbanist Medium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 Medium"/>
              </a:rPr>
              <a:t>www.universitywafer.com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0" y="4057650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67025" y="4064793"/>
            <a:ext cx="7553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DAFFDE"/>
                </a:solidFill>
                <a:latin typeface="Urbanist Medium"/>
              </a:rPr>
              <a:t>https://ch.mathworks.com/help/examples/images_deeplearning/win64/ClassifyWaferMapDefectsUsingDeepLearningExample_01.png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7025" y="4298156"/>
            <a:ext cx="7553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AFFDE"/>
                </a:solidFill>
                <a:latin typeface="Urbanist Medium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 Medium"/>
              </a:rPr>
              <a:t>www.mathworks.com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